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7200" b="1">
                <a:solidFill>
                  <a:srgbClr val="FFFFFF"/>
                </a:solidFill>
                <a:latin typeface="Arial"/>
              </a:defRPr>
            </a:pPr>
            <a:r>
              <a:t>VAIS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BFDBFE"/>
                </a:solidFill>
                <a:latin typeface="Arial"/>
              </a:defRPr>
            </a:pPr>
            <a:r>
              <a:t>v0.11.0  기술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DBEAFE"/>
                </a:solidFill>
                <a:latin typeface="Arial"/>
              </a:defRPr>
            </a:pPr>
            <a:r>
              <a:t>Claude Code 플러그인 기반</a:t>
            </a:r>
            <a:br/>
            <a:r>
              <a:t>9단계 AI 개발 워크플로우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B7080"/>
                </a:solidFill>
                <a:latin typeface="Arial"/>
              </a:defRPr>
            </a:pPr>
            <a:r>
              <a:t>체이닝 문법  ·  병렬 에이전트  ·  핑퐁 피드백 루프  ·  Gap 분석  ·  Manager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6B7080"/>
                </a:solidFill>
                <a:latin typeface="Arial"/>
              </a:defRPr>
            </a:pPr>
            <a:r>
              <a:t>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73152" cy="19568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2563EB"/>
                </a:solidFill>
                <a:latin typeface="Arial"/>
              </a:defRPr>
            </a:pPr>
            <a:r>
              <a:t>Part 1  — 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VAIS Code란 · 핵심 가치 · 전체 아키텍처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36192"/>
            <a:ext cx="73152" cy="19568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7C3AED"/>
                </a:solidFill>
                <a:latin typeface="Arial"/>
              </a:defRPr>
            </a:pPr>
            <a:r>
              <a:t>Part 2  —  워크플로우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7744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9단계 파이프라인 · 체이닝 문법 · 핑퐁 게이트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05072"/>
            <a:ext cx="73152" cy="19568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059669"/>
                </a:solidFill>
                <a:latin typeface="Arial"/>
              </a:defRPr>
            </a:pPr>
            <a:r>
              <a:t>Part 3  —  시스템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에이전트 팀 · 훅 시스템 · 상태 관리 ·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005072"/>
            <a:ext cx="73152" cy="19568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1605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A580C"/>
                </a:solidFill>
                <a:latin typeface="Arial"/>
              </a:defRPr>
            </a:pPr>
            <a:r>
              <a:t>Part 4  —  실전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8463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데모 흐름 · Gap 분석 · /vais fix · v0.11.0 변경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  <a:latin typeface="Arial"/>
              </a:defRPr>
            </a:pPr>
            <a: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DBEAFE"/>
                </a:solidFill>
                <a:latin typeface="Arial"/>
              </a:defRPr>
            </a:pPr>
            <a:r>
              <a:t>VAIS Code는 무엇이고, 왜 필요한가?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VAIS Code란?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D2D3F"/>
                </a:solidFill>
                <a:latin typeface="Arial"/>
              </a:defRPr>
            </a:pPr>
            <a:r>
              <a:t>Claude Code 플러그인으로 동작하는  9단계 AI 개발 워크플로우 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36576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84832"/>
            <a:ext cx="73152" cy="35112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DC2626"/>
                </a:solidFill>
                <a:latin typeface="Arial"/>
              </a:defRPr>
            </a:pPr>
            <a:r>
              <a:t>🎯 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AI에게 "만들어줘" 하면</a:t>
            </a:r>
            <a:br/>
            <a:r>
              <a:t>기획 없이 바로 코딩</a:t>
            </a:r>
            <a:br/>
            <a:r>
              <a:t>→ 요구사항 누락</a:t>
            </a:r>
            <a:br/>
            <a:r>
              <a:t>→ 설계 없는 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011680"/>
            <a:ext cx="3474720" cy="36576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2084832"/>
            <a:ext cx="73152" cy="3511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21945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2563EB"/>
                </a:solidFill>
                <a:latin typeface="Arial"/>
              </a:defRPr>
            </a:pPr>
            <a:r>
              <a:t>💡 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92608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조사→기획→설계→구현→검증</a:t>
            </a:r>
            <a:br/>
            <a:r>
              <a:t>단계별 산출물 강제</a:t>
            </a:r>
            <a:br/>
            <a:r>
              <a:t>→ 체계적 개발 보장</a:t>
            </a:r>
            <a:br/>
            <a:r>
              <a:t>→ 문서 기반 추적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11680"/>
            <a:ext cx="3474720" cy="36576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2084832"/>
            <a:ext cx="73152" cy="3511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059669"/>
                </a:solidFill>
                <a:latin typeface="Arial"/>
              </a:defRPr>
            </a:pPr>
            <a:r>
              <a:t>✨ 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017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기획서 기반 코딩 규칙</a:t>
            </a:r>
            <a:br/>
            <a:r>
              <a:t>설계 대비 Gap 분석</a:t>
            </a:r>
            <a:br/>
            <a:r>
              <a:t>→ 90%+ 일치율 검증</a:t>
            </a:r>
            <a:br/>
            <a:r>
              <a:t>→ 세션 간 맥락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핵심 가치 &amp;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73152" cy="20482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📋  기획 없이 코드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기획서 = 단일 진실 소스(SSOT)</a:t>
            </a:r>
            <a:br/>
            <a:r>
              <a:t>코딩 규칙 + 기능 목록 + 정책 포함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44752"/>
            <a:ext cx="73152" cy="204825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C3AED"/>
                </a:solidFill>
                <a:latin typeface="Arial"/>
              </a:defRPr>
            </a:pPr>
            <a:r>
              <a:t>🔗  체이닝 문법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plan:ia:wireframe → 순차</a:t>
            </a:r>
            <a:br/>
            <a:r>
              <a:t>fe+be → 병렬 / 혼합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05072"/>
            <a:ext cx="73152" cy="204825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🔎  Gap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설계 vs 코드 자동 비교</a:t>
            </a:r>
            <a:br/>
            <a:r>
              <a:t>90% 미만 시 최대 5회 반복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005072"/>
            <a:ext cx="73152" cy="204825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1605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EA580C"/>
                </a:solidFill>
                <a:latin typeface="Arial"/>
              </a:defRPr>
            </a:pPr>
            <a:r>
              <a:t>🧠  Manager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846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의사결정, 의존성, 기술 부채</a:t>
            </a:r>
            <a:br/>
            <a:r>
              <a:t>세션 넘어 영속 기억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전체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1832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686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2D2D3F"/>
                </a:solidFill>
                <a:latin typeface="Courier New"/>
              </a:defRPr>
            </a:pPr>
            <a:r>
              <a:t>                    사용자  →  /vais auto login</a:t>
            </a:r>
            <a:br/>
            <a:r>
              <a:t>                         │</a:t>
            </a:r>
            <a:br/>
            <a:r>
              <a:t>                    ┌────▼─────┐</a:t>
            </a:r>
            <a:br/>
            <a:r>
              <a:t>                    │ SKILL.md │  스킬 진입점 (액션 라우팅)</a:t>
            </a:r>
            <a:br/>
            <a:r>
              <a:t>                    └────┬─────┘</a:t>
            </a:r>
            <a:br/>
            <a:r>
              <a:t>                         │</a:t>
            </a:r>
            <a:br/>
            <a:r>
              <a:t>         ┌───────────────┼───────────────┐</a:t>
            </a:r>
            <a:br/>
            <a:r>
              <a:t>         ▼               ▼               ▼</a:t>
            </a:r>
            <a:br/>
            <a:r>
              <a:t>   ┌──────────┐   ┌──────────┐   ┌─────────────┐</a:t>
            </a:r>
            <a:br/>
            <a:r>
              <a:t>   │ Manager  │ → │ Tech Lead│ → │ 에이전트 팀  │</a:t>
            </a:r>
            <a:br/>
            <a:r>
              <a:t>   │  (opus)  │   │  (opus)  │   │  (sonnet)   │</a:t>
            </a:r>
            <a:br/>
            <a:r>
              <a:t>   │ 기억/판단 │   │ 오케스트 │   │ designer    │</a:t>
            </a:r>
            <a:br/>
            <a:r>
              <a:t>   └────┬─────┘   └──────────┘   │ fe/be dev   │</a:t>
            </a:r>
            <a:br/>
            <a:r>
              <a:t>        │                        │ reviewer    │</a:t>
            </a:r>
            <a:br/>
            <a:r>
              <a:t>   피드백/기록                    └─────────────┘</a:t>
            </a:r>
            <a:br/>
            <a:r>
              <a:t>        │</a:t>
            </a:r>
            <a:br/>
            <a:r>
              <a:t>   ┌────▼──────┐   ┌──────────┐</a:t>
            </a:r>
            <a:br/>
            <a:r>
              <a:t>   │  Hooks    │   │  .vais/  │</a:t>
            </a:r>
            <a:br/>
            <a:r>
              <a:t>   │  5개 훅   │   │  상태    │</a:t>
            </a:r>
            <a:br/>
            <a:r>
              <a:t>   └───────────┘   └──────────┘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  <a:latin typeface="Arial"/>
              </a:defRPr>
            </a:pPr>
            <a:r>
              <a:t>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DBEAFE"/>
                </a:solidFill>
                <a:latin typeface="Arial"/>
              </a:defRPr>
            </a:pPr>
            <a:r>
              <a:t>9단계 파이프라인 · 체이닝 · 게이트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9단계 개발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563EB"/>
                </a:solidFill>
                <a:latin typeface="Arial"/>
              </a:defRPr>
            </a:pPr>
            <a:r>
              <a:t>🔭 조사  →  📋 기획  →  🗺 IA  →  🖼 와이어프레임  →  🎨 설계  →  💻 FE  →  ⚙️ BE  →  🔎 Gap  →  🔍 검토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743200"/>
                <a:gridCol w="329184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산출물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에이전트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🔭 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docs/01-research/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Tech Lead 직접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아이디어 → 기능 도출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📋  plan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docs/02-plan/ + .vais/features/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Tech Lead 직접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⚡ 게이트 · 코딩 규칙 포함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🗺 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docs/03-ia/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designer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사이트맵 · 네비게이션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🖼  wireframe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docs/04-wireframe/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designer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ASCII + HTML 와이어프레임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🎨 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docs/05-design/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designer + backend-dev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🔀 병렬 · UI + DB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💻  fe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src/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frontend-dev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⚡ 게이트 · 🔀 병렬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⚙️  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src/ or server/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backend-dev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🔀 병렬 (fe와 동시)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🔎  check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docs/06-check/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Gap 분석 + 보안 검사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🔍 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docs/07-review/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QA + 최종 리뷰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체이닝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B7080"/>
                </a:solidFill>
                <a:latin typeface="Arial"/>
              </a:defRPr>
            </a:pPr>
            <a:r>
              <a:t>:  순차  /  +  병렬  — 조합하여 워크플로우 커스터마이징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28600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기호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순차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plan:ia:wireframe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병렬 실행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fe+be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혼합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순차+병렬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plan:design:fe+be:check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전체 자동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/vais auto login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737360"/>
            <a:ext cx="530352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810512"/>
            <a:ext cx="73152" cy="44256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7548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2D2D3F"/>
                </a:solidFill>
                <a:latin typeface="Courier New"/>
              </a:defRPr>
            </a:pPr>
            <a:r>
              <a:t>/vais plan 로그인기능                  # 단일</a:t>
            </a:r>
            <a:br/>
            <a:br/>
            <a:r>
              <a:t>/vais plan:ia:wireframe 로그인기능     # 순차</a:t>
            </a:r>
            <a:br/>
            <a:br/>
            <a:r>
              <a:t>/vais fe+be 로그인기능                 # 병렬</a:t>
            </a:r>
            <a:br/>
            <a:br/>
            <a:r>
              <a:t>/vais plan:design:fe+be:check 로그인   # 혼합</a:t>
            </a:r>
            <a:br/>
            <a:br/>
            <a:r>
              <a:t>/vais auto 로그인기능                  # 전체</a:t>
            </a:r>
            <a:br/>
            <a:br/>
            <a:r>
              <a:t>"기획부터 백엔드까지"                    # 한글 범위</a:t>
            </a:r>
            <a:br/>
            <a:r>
              <a:t> → plan:ia:wireframe:design:fe+be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게이트 &amp; 핑퐁 피드백 루프  (v0.11.0)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2860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73152" cy="21396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EA580C"/>
                </a:solidFill>
                <a:latin typeface="Arial"/>
              </a:defRPr>
            </a:pPr>
            <a:r>
              <a:t>⚡  게이트 체크포인트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vais.config.json → orchestration.gates</a:t>
            </a:r>
            <a:br/>
            <a:br/>
            <a:r>
              <a:t>•  plan 게이트 — 기획 완료 후 방향 확인</a:t>
            </a:r>
            <a:br/>
            <a:r>
              <a:t>•  fe 게이트 — 구현 시작 전 설계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005072"/>
            <a:ext cx="73152" cy="21396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DC2626"/>
                </a:solidFill>
                <a:latin typeface="Arial"/>
              </a:defRPr>
            </a:pPr>
            <a:r>
              <a:t>⚠️  핵심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D2D3F"/>
                </a:solidFill>
                <a:latin typeface="Arial"/>
              </a:defRPr>
            </a:pPr>
            <a:r>
              <a:t>사용자가 명시적으로</a:t>
            </a:r>
            <a:br/>
            <a:r>
              <a:t>"계속" 을 선택할 때까지</a:t>
            </a:r>
            <a:br/>
            <a:r>
              <a:t>절대 다음 단계로 넘어가지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303520" cy="49377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53312"/>
            <a:ext cx="73152" cy="4791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🔄  핑퐁 루프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400" b="0">
                <a:solidFill>
                  <a:srgbClr val="2D2D3F"/>
                </a:solidFill>
                <a:latin typeface="Courier New"/>
              </a:defRPr>
            </a:pPr>
            <a:r>
              <a:t>게이트 도달</a:t>
            </a:r>
            <a:br/>
            <a:r>
              <a:t>  │</a:t>
            </a:r>
            <a:br/>
            <a:r>
              <a:t>  ▼</a:t>
            </a:r>
            <a:br/>
            <a:r>
              <a:t>AskUserQuestion</a:t>
            </a:r>
            <a:br/>
            <a:r>
              <a:t>  │</a:t>
            </a:r>
            <a:br/>
            <a:r>
              <a:t>  ├─ "계속"     → 다음 단계 ✅</a:t>
            </a:r>
            <a:br/>
            <a:r>
              <a:t>  │</a:t>
            </a:r>
            <a:br/>
            <a:r>
              <a:t>  ├─ "수정 요청"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피드백 반영 → 수정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📝 수정 결과 요약</a:t>
            </a:r>
            <a:br/>
            <a:r>
              <a:t>  │     │</a:t>
            </a:r>
            <a:br/>
            <a:r>
              <a:t>  │     ▼</a:t>
            </a:r>
            <a:br/>
            <a:r>
              <a:t>  │   재확인 (계속 / 추가 수정 / 중단)</a:t>
            </a:r>
            <a:br/>
            <a:r>
              <a:t>  │</a:t>
            </a:r>
            <a:br/>
            <a:r>
              <a:t>  └─ "중단"     → 저장 후 종료 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  <a:latin typeface="Arial"/>
              </a:defRPr>
            </a:pPr>
            <a:r>
              <a:t>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DBEAFE"/>
                </a:solidFill>
                <a:latin typeface="Arial"/>
              </a:defRPr>
            </a:pPr>
            <a:r>
              <a:t>에이전트 · 훅 · 상태 관리 ·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에이전트 팀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148840" cy="34747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73152" cy="33284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EA580C"/>
                </a:solidFill>
                <a:latin typeface="Arial"/>
              </a:defRPr>
            </a:pPr>
            <a:r>
              <a:t>📋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080"/>
                </a:solidFill>
                <a:latin typeface="Arial"/>
              </a:defRPr>
            </a:pPr>
            <a:r>
              <a:t>opus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828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프로젝트 기억</a:t>
            </a:r>
            <a:br/>
            <a:r>
              <a:t>전략적 판단</a:t>
            </a:r>
            <a:br/>
            <a:r>
              <a:t>크로스-피처 분석</a:t>
            </a:r>
            <a:br/>
            <a:r>
              <a:t>Tech Lead 지시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188720"/>
            <a:ext cx="214884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261872"/>
            <a:ext cx="73152" cy="33284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🏗 Tech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080"/>
                </a:solidFill>
                <a:latin typeface="Arial"/>
              </a:defRPr>
            </a:pPr>
            <a:r>
              <a:t>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828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아키텍처 결정</a:t>
            </a:r>
            <a:br/>
            <a:r>
              <a:t>팀 오케스트레이션</a:t>
            </a:r>
            <a:br/>
            <a:r>
              <a:t>게이트 관리</a:t>
            </a:r>
            <a:br/>
            <a:r>
              <a:t>품질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2148840" cy="34747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261872"/>
            <a:ext cx="73152" cy="332841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🎨 Designer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080"/>
                </a:solidFill>
                <a:latin typeface="Arial"/>
              </a:defRPr>
            </a:pPr>
            <a:r>
              <a:t>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286000"/>
            <a:ext cx="1828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IA 설계</a:t>
            </a:r>
            <a:br/>
            <a:r>
              <a:t>와이어프레임</a:t>
            </a:r>
            <a:br/>
            <a:r>
              <a:t>UI/UX 설계</a:t>
            </a:r>
            <a:br/>
            <a:r>
              <a:t>디자인 토큰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1188720"/>
            <a:ext cx="2148840" cy="34747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19" y="1261872"/>
            <a:ext cx="73152" cy="33284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799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💻 FE / ⚙️ 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080"/>
                </a:solidFill>
                <a:latin typeface="Arial"/>
              </a:defRPr>
            </a:pPr>
            <a:r>
              <a:t>sonnet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2286000"/>
            <a:ext cx="1828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프론트엔드 구현</a:t>
            </a:r>
            <a:br/>
            <a:r>
              <a:t>백엔드 API/DB</a:t>
            </a:r>
            <a:br/>
            <a:r>
              <a:t>테스트 코드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188720"/>
            <a:ext cx="2148840" cy="34747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261872"/>
            <a:ext cx="73152" cy="332841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t>🔍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080"/>
                </a:solidFill>
                <a:latin typeface="Arial"/>
              </a:defRPr>
            </a:pPr>
            <a:r>
              <a:t>sonnet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286000"/>
            <a:ext cx="1828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Gap 분석</a:t>
            </a:r>
            <a:br/>
            <a:r>
              <a:t>OWASP 보안</a:t>
            </a:r>
            <a:br/>
            <a:r>
              <a:t>QA 검증</a:t>
            </a:r>
            <a:br/>
            <a:r>
              <a:t>코드 리뷰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493776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11480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적용 단계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Tech Lead가 직접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research,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delegate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전문 에이전트에 위임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ia, wireframe, fe, be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여러 에이전트 동시 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design(UI+DB), fe+be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council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reviewer + 리드 공동 검토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check,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모델 비용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B7080"/>
                </a:solidFill>
                <a:latin typeface="Arial"/>
              </a:defRPr>
            </a:pPr>
            <a:r>
              <a:t>판단은 Opus,  구현은 Sonnet  —  역할별 모델 분리로 비용 절감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1031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73152" cy="195681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C2626"/>
                </a:solidFill>
                <a:latin typeface="Arial"/>
              </a:defRPr>
            </a:pPr>
            <a:r>
              <a:t>Opus  —  판단, 전략,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•  Manager — 프로젝트 기억, 전략 판단, 의존성 분석</a:t>
            </a:r>
            <a:br/>
            <a:r>
              <a:t>•  Tech Lead — 아키텍처 결정, 팀 오케스트레이션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79392"/>
            <a:ext cx="73152" cy="21396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Sonnet  —  코드 구현, 문서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•  Designer — IA, 와이어프레임, UI/UX 설계</a:t>
            </a:r>
            <a:br/>
            <a:r>
              <a:t>•  Frontend Dev / Backend Dev — 구현</a:t>
            </a:r>
            <a:br/>
            <a:r>
              <a:t>•  Reviewer — Gap 분석, QA, 코드 리뷰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303520" cy="46634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901952"/>
            <a:ext cx="73152" cy="45171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059669"/>
                </a:solidFill>
                <a:latin typeface="Arial"/>
              </a:defRPr>
            </a:pPr>
            <a:r>
              <a:t>💰  비용 절감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D2D3F"/>
                </a:solidFill>
                <a:latin typeface="Arial"/>
              </a:defRPr>
            </a:pPr>
            <a:r>
              <a:t>9단계 중 2단계만 opus</a:t>
            </a:r>
            <a:br/>
            <a:r>
              <a:t>나머지 7단계는 sonnet</a:t>
            </a:r>
            <a:br/>
            <a:br/>
            <a:r>
              <a:t>→ 전체 비용  60~70%  절감 (추정)</a:t>
            </a:r>
            <a:br/>
            <a:br/>
            <a:br/>
            <a:r>
              <a:t>단순 탐색에는 haiku 활용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훅(Hook)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B7080"/>
                </a:solidFill>
                <a:latin typeface="Arial"/>
              </a:defRPr>
            </a:pPr>
            <a:r>
              <a:t>Claude Code 이벤트에 자동 반응하는 5개 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200400"/>
                <a:gridCol w="3749039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이벤트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스크립트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SessionStart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세션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session-start.js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.vais/ 디렉토리 생성, 상태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PreToolUse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Bash 실행 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bash-guard.js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rm -rf, DROP, sudo 등 위험 명령 차단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PostToolUse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Write | Edit 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doc-tracker.js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문서 감지 → 워크플로우 상태 자동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UserPromptSubmit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사용자 입력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prompt-handler.js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의도 감지 → /vais 명령 제안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응답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stop-handler.js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진행률 프로그레스바 + 다음 단계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54880"/>
            <a:ext cx="11064240" cy="11887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828032"/>
            <a:ext cx="73152" cy="10424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D2D3F"/>
                </a:solidFill>
                <a:latin typeface="Arial"/>
              </a:defRPr>
            </a:pPr>
            <a:r>
              <a:t>v0.11.0 —  no-op 훅 2개 (notification.js, subagent-stop.js) 제거하여 오버헤드 감소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상태 관리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B7080"/>
                </a:solidFill>
                <a:latin typeface="Arial"/>
              </a:defRPr>
            </a:pPr>
            <a:r>
              <a:t>.vais/  디렉토리에 모든 상태를 JSON으로 영속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10512"/>
            <a:ext cx="73152" cy="44256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50292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2D2D3F"/>
                </a:solidFill>
                <a:latin typeface="Courier New"/>
              </a:defRPr>
            </a:pPr>
            <a:r>
              <a:t>.vais/</a:t>
            </a:r>
            <a:br/>
            <a:r>
              <a:t>├── status.json           워크플로우 상태</a:t>
            </a:r>
            <a:br/>
            <a:r>
              <a:t>│     activeFeature · currentPhase</a:t>
            </a:r>
            <a:br/>
            <a:r>
              <a:t>│     phases (9개) · gapAnalysis</a:t>
            </a:r>
            <a:br/>
            <a:r>
              <a:t>│</a:t>
            </a:r>
            <a:br/>
            <a:r>
              <a:t>├── memory.json           Manager Memory</a:t>
            </a:r>
            <a:br/>
            <a:r>
              <a:t>│     entries[] → decision, change,</a:t>
            </a:r>
            <a:br/>
            <a:r>
              <a:t>│     feedback, dependency, debt,</a:t>
            </a:r>
            <a:br/>
            <a:r>
              <a:t>│     error, milestone</a:t>
            </a:r>
            <a:br/>
            <a:r>
              <a:t>│</a:t>
            </a:r>
            <a:br/>
            <a:r>
              <a:t>├── features/             피처 레지스트리</a:t>
            </a:r>
            <a:br/>
            <a:r>
              <a:t>│     login.json → features[], policies,</a:t>
            </a:r>
            <a:br/>
            <a:r>
              <a:t>│     techStack, hasDatabase</a:t>
            </a:r>
            <a:br/>
            <a:r>
              <a:t>│</a:t>
            </a:r>
            <a:br/>
            <a:r>
              <a:t>└── project-config.json   프로젝트별 설정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737360"/>
          <a:ext cx="50292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모듈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핵심 역할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paths.js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경로 레지스트리, loadConfig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status.js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워크플로우 상태, updatePhase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memory.js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Manager Memory, addEntry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io.js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훅 I/O, outputAllow / Block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debug.js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디버그 로깅 (VAIS_DEBUG=1)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Manager Memory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B7080"/>
                </a:solidFill>
                <a:latin typeface="Arial"/>
              </a:defRPr>
            </a:pPr>
            <a:r>
              <a:t>프로젝트의 모든 의사결정과 컨텍스트를 영속 기억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9436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26517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기술/비즈니스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Next.js 선택 — SSR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fix로 인한 변경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JWT → 세션 변경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게이트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소셜 로그인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dependency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피처 간 의존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cart → login 의존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기술 부채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에러 핸들링 미완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실패/재시도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빌드 실패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단계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plan 단계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737360"/>
            <a:ext cx="4389120" cy="13716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1810512"/>
            <a:ext cx="73152" cy="1225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874519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🔍  Query 모드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28600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"프로젝트 현황 알려줘"</a:t>
            </a:r>
            <a:br/>
            <a:r>
              <a:t>memory 조회 → 피처 목록, 진행률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291839"/>
            <a:ext cx="438912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3364991"/>
            <a:ext cx="73152" cy="1225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428999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⚡  크로스-피처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840479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"login 수정해줘"</a:t>
            </a:r>
            <a:br/>
            <a:r>
              <a:t>→ cart, payment 영향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846320"/>
            <a:ext cx="4389120" cy="13716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919472"/>
            <a:ext cx="73152" cy="1225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983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059669"/>
                </a:solidFill>
                <a:latin typeface="Arial"/>
              </a:defRPr>
            </a:pPr>
            <a:r>
              <a:t>📋  기술 부채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394959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D2D3F"/>
                </a:solidFill>
                <a:latin typeface="Arial"/>
              </a:defRPr>
            </a:pPr>
            <a:r>
              <a:t>미해결 부채 목록 조회</a:t>
            </a:r>
            <a:br/>
            <a:r>
              <a:t>해결 시 resolveDebt()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  <a:latin typeface="Arial"/>
              </a:defRPr>
            </a:pPr>
            <a:r>
              <a:t>실전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400" b="0">
                <a:solidFill>
                  <a:srgbClr val="DBEAFE"/>
                </a:solidFill>
                <a:latin typeface="Arial"/>
              </a:defRPr>
            </a:pPr>
            <a:r>
              <a:t>데모 흐름 · Gap 분석 · /vais fix · v0.11.0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실행 데모  —  /vais auto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3035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73152" cy="51572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2D2D3F"/>
                </a:solidFill>
                <a:latin typeface="Courier New"/>
              </a:defRPr>
            </a:pPr>
            <a:r>
              <a:t> 1.  Manager  — memory 조회 → 의존성 확인 → Tech Lead 지시</a:t>
            </a:r>
            <a:br/>
            <a:br/>
            <a:r>
              <a:t> 2.  Tech Lead — research  →  docs/01-research/login.md</a:t>
            </a:r>
            <a:br/>
            <a:br/>
            <a:r>
              <a:t> 3.  Tech Lead — plan   ⚡ 게이트</a:t>
            </a:r>
            <a:br/>
            <a:r>
              <a:t>       기획서 작성 → 피처 레지스트리 → 핑퐁 루프</a:t>
            </a:r>
            <a:br/>
            <a:r>
              <a:t>       └─ "소셜 로그인도 넣어줘"  →  반영  →  "계속"</a:t>
            </a:r>
            <a:br/>
            <a:br/>
            <a:r>
              <a:t> 4.  designer  — ia  →  사이트맵 + 네비게이션</a:t>
            </a:r>
            <a:br/>
            <a:br/>
            <a:r>
              <a:t> 5.  designer  — wireframe  →  ASCII/HTML 와이어프레임</a:t>
            </a:r>
            <a:br/>
            <a:br/>
            <a:r>
              <a:t> 6.  🔀 병렬 — design</a:t>
            </a:r>
            <a:br/>
            <a:r>
              <a:t>       ├─ designer     →  UI 설계 (디자인 토큰, 컴포넌트)</a:t>
            </a:r>
            <a:br/>
            <a:r>
              <a:t>       └─ backend-dev  →  DB 설계 (ERD, 스키마)</a:t>
            </a:r>
            <a:br/>
            <a:br/>
            <a:r>
              <a:t> 7.  🔀 병렬 — fe + be   ⚡ 게이트 (fe 시작 전)</a:t>
            </a:r>
            <a:br/>
            <a:r>
              <a:t>       ├─ frontend-dev →  React 컴포넌트 구현</a:t>
            </a:r>
            <a:br/>
            <a:r>
              <a:t>       └─ backend-dev  →  API + DB 연동</a:t>
            </a:r>
            <a:br/>
            <a:br/>
            <a:r>
              <a:t> 8.  reviewer — check  →  Gap 분석  (90% 미만 시 자동 반복)</a:t>
            </a:r>
            <a:br/>
            <a:br/>
            <a:r>
              <a:t> 9.  reviewer — review →  QA + OWASP 보안 + 최종 리뷰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Gap 분석  —  자동 검증 루프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3657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73152" cy="3511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D2D3F"/>
                </a:solidFill>
                <a:latin typeface="Arial"/>
              </a:defRPr>
            </a:pPr>
            <a:r>
              <a:t>1.  피처 레지스트리에서 요구사항 추출</a:t>
            </a:r>
            <a:br/>
            <a:r>
              <a:t>2.  Glob/Grep으로 구현 코드 탐색</a:t>
            </a:r>
            <a:br/>
            <a:r>
              <a:t>3.  각 요구사항 구현 여부 판정</a:t>
            </a:r>
            <a:br/>
            <a:r>
              <a:t>4.  일치율: (구현 수 / 전체) × 100</a:t>
            </a:r>
            <a:br/>
            <a:r>
              <a:t>5.  OWASP Top 10 보안 검사</a:t>
            </a:r>
            <a:br/>
            <a:r>
              <a:t>6.  QA 시나리오 생성</a:t>
            </a:r>
            <a:br/>
            <a:r>
              <a:t>7.  Gap 방향 판단 (코드? 스펙?)</a:t>
            </a:r>
            <a:br/>
            <a:r>
              <a:t>8.  90% 미만 → 최대 5회 자동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61872"/>
            <a:ext cx="73152" cy="4882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7548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500" b="0">
                <a:solidFill>
                  <a:srgbClr val="2D2D3F"/>
                </a:solidFill>
                <a:latin typeface="Courier New"/>
              </a:defRPr>
            </a:pPr>
            <a:r>
              <a:t>check 시작</a:t>
            </a:r>
            <a:br/>
            <a:r>
              <a:t>  │</a:t>
            </a:r>
            <a:br/>
            <a:r>
              <a:t>  ▼</a:t>
            </a:r>
            <a:br/>
            <a:r>
              <a:t>빌드 검증  (npm build / tsc)</a:t>
            </a:r>
            <a:br/>
            <a:r>
              <a:t>  │</a:t>
            </a:r>
            <a:br/>
            <a:r>
              <a:t>  ▼</a:t>
            </a:r>
            <a:br/>
            <a:r>
              <a:t>Gap 분석 실행</a:t>
            </a:r>
            <a:br/>
            <a:r>
              <a:t>  │</a:t>
            </a:r>
            <a:br/>
            <a:r>
              <a:t>  ├─  ≥ 90%  →  통과 ✅</a:t>
            </a:r>
            <a:br/>
            <a:r>
              <a:t>  │</a:t>
            </a:r>
            <a:br/>
            <a:r>
              <a:t>  └─  &lt; 90%</a:t>
            </a:r>
            <a:br/>
            <a:r>
              <a:t>        ▼</a:t>
            </a:r>
            <a:br/>
            <a:r>
              <a:t>      Gap 방향 판단</a:t>
            </a:r>
            <a:br/>
            <a:r>
              <a:t>        ├─ 코드 누락 → 수정</a:t>
            </a:r>
            <a:br/>
            <a:r>
              <a:t>        └─ 스펙 과잉 → 확인</a:t>
            </a:r>
            <a:br/>
            <a:r>
              <a:t>        ▼</a:t>
            </a:r>
            <a:br/>
            <a:r>
              <a:t>      반복 (iteration++)</a:t>
            </a:r>
            <a:br/>
            <a:r>
              <a:t>        ├─ ≤ 5   →  재분석 🔄</a:t>
            </a:r>
            <a:br/>
            <a:r>
              <a:t>        └─ &gt; 5   →  중단 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5303520" cy="10972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193792"/>
            <a:ext cx="73152" cy="9509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2D2D3F"/>
                </a:solidFill>
                <a:latin typeface="Arial"/>
              </a:defRPr>
            </a:pPr>
            <a:r>
              <a:t>설정:  matchThreshold: 90  ·  maxIterations: 5  ·  autoIterate: true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/vais fix  —  영향 분석 기반 수정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73152" cy="4882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2D2D3F"/>
                </a:solidFill>
                <a:latin typeface="Courier New"/>
              </a:defRPr>
            </a:pPr>
            <a:r>
              <a:t>사용자: "로그인 화면 디자인 바꿔줘"</a:t>
            </a:r>
            <a:br/>
            <a:r>
              <a:t>  │</a:t>
            </a:r>
            <a:br/>
            <a:r>
              <a:t>  ▼</a:t>
            </a:r>
            <a:br/>
            <a:r>
              <a:t>Manager</a:t>
            </a:r>
            <a:br/>
            <a:r>
              <a:t>  ├── memory 조회 (과거 결정)</a:t>
            </a:r>
            <a:br/>
            <a:r>
              <a:t>  ├── dependency 맵 확인</a:t>
            </a:r>
            <a:br/>
            <a:r>
              <a:t>  └── 영향 범위 분석</a:t>
            </a:r>
            <a:br/>
            <a:r>
              <a:t>  │</a:t>
            </a:r>
            <a:br/>
            <a:r>
              <a:t>  ▼</a:t>
            </a:r>
            <a:br/>
            <a:r>
              <a:t>영향 분류</a:t>
            </a:r>
            <a:br/>
            <a:r>
              <a:t>  ├── UI만    →  wireframe:design:fe</a:t>
            </a:r>
            <a:br/>
            <a:r>
              <a:t>  ├── API만   →  design:be</a:t>
            </a:r>
            <a:br/>
            <a:r>
              <a:t>  ├── 전체    →  design:fe+be:check</a:t>
            </a:r>
            <a:br/>
            <a:r>
              <a:t>  └── 정책    →  plan:design:fe+be:check</a:t>
            </a:r>
            <a:br/>
            <a:r>
              <a:t>  │</a:t>
            </a:r>
            <a:br/>
            <a:r>
              <a:t>  ▼</a:t>
            </a:r>
            <a:br/>
            <a:r>
              <a:t>Tech Lead → 팀 실행 → Manager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5029200" cy="29260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261872"/>
            <a:ext cx="73152" cy="27797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EA580C"/>
                </a:solidFill>
                <a:latin typeface="Arial"/>
              </a:defRPr>
            </a:pPr>
            <a:r>
              <a:t>⚠️  크로스-피처 영향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D2D3F"/>
                </a:solidFill>
                <a:latin typeface="Arial"/>
              </a:defRPr>
            </a:pPr>
            <a:r>
              <a:t>"login" 수정 시 영향:</a:t>
            </a:r>
            <a:br/>
            <a:br/>
            <a:r>
              <a:t>•  cart — 인증 토큰 의존</a:t>
            </a:r>
            <a:br/>
            <a:r>
              <a:t>    → 인증 변경 시 cart도 수정 필요</a:t>
            </a:r>
            <a:br/>
            <a:br/>
            <a:r>
              <a:t>•  payment — cart 경유 간접 의존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389120"/>
            <a:ext cx="5029200" cy="18288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4462272"/>
            <a:ext cx="73152" cy="16824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59669"/>
                </a:solidFill>
                <a:latin typeface="Arial"/>
              </a:defRPr>
            </a:pPr>
            <a:r>
              <a:t>✅  안전 장치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1206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D2D3F"/>
                </a:solidFill>
                <a:latin typeface="Arial"/>
              </a:defRPr>
            </a:pPr>
            <a:r>
              <a:t>•  fix → check → fix 재귀 방지</a:t>
            </a:r>
            <a:br/>
            <a:r>
              <a:t>•  영향 피처 사용자 확인 필수</a:t>
            </a:r>
            <a:br/>
            <a:r>
              <a:t>•  모든 변경 memory에 기록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v0.11.0  변경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2743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61872"/>
            <a:ext cx="73152" cy="2596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C2626"/>
                </a:solidFill>
                <a:latin typeface="Arial"/>
              </a:defRPr>
            </a:pPr>
            <a:r>
              <a:t>🔒  보안 &amp; 안정성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49377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bash-guard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sudo, 분리플래그, $HOME, chmod 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doc-tracker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includes → endsWith 오탐 수정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prompt-handler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복합 키워드로 오탐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status.js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updatePhase 재귀 → 재로드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에러 로깅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모든 catch에 debugLog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1188720"/>
            <a:ext cx="5486400" cy="27432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73152" cy="25968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✨  기능 &amp; 품질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1920240"/>
          <a:ext cx="49377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게이트 루프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핑퐁 피드백 루프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no-op 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notification/subagent 제거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타이포그래피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design 템플릿 기본값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OWASP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A06/A08/A09/A10 추가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버전 통일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plugin/marketplace → 0.11.0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변경 이력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시맨틱 버전 순 정렬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303520"/>
            <a:ext cx="11247120" cy="9144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✅   테스트:  25 suites  ·  67 tests  ·  전체 통과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1148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73152" cy="39684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C2626"/>
                </a:solidFill>
                <a:latin typeface="Arial"/>
              </a:defRPr>
            </a:pPr>
            <a:r>
              <a:t>🎯  VAIS Code가 해결하는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7548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•  AI가 기획 없이 코드부터 작성</a:t>
            </a:r>
            <a:br/>
            <a:br/>
            <a:r>
              <a:t>•  설계와 구현의 괴리 (Gap)</a:t>
            </a:r>
            <a:br/>
            <a:br/>
            <a:r>
              <a:t>•  세션 간 맥락 유실</a:t>
            </a:r>
            <a:br/>
            <a:br/>
            <a:r>
              <a:t>•  피처 간 의존성 파악 불가</a:t>
            </a:r>
            <a:br/>
            <a:br/>
            <a:r>
              <a:t>•  수정 시 영향 범위 모름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41148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53312"/>
            <a:ext cx="73152" cy="39684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59669"/>
                </a:solidFill>
                <a:latin typeface="Arial"/>
              </a:defRPr>
            </a:pPr>
            <a:r>
              <a:t>✨  핵심 역량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7548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D2D3F"/>
                </a:solidFill>
                <a:latin typeface="Arial"/>
              </a:defRPr>
            </a:pPr>
            <a:r>
              <a:t>•  9단계 파이프라인  →  체계적 산출물</a:t>
            </a:r>
            <a:br/>
            <a:br/>
            <a:r>
              <a:t>•  체이닝 문법  →  유연한 워크플로우</a:t>
            </a:r>
            <a:br/>
            <a:br/>
            <a:r>
              <a:t>•  병렬 에이전트  →  design, fe+be</a:t>
            </a:r>
            <a:br/>
            <a:br/>
            <a:r>
              <a:t>•  Gap 분석  →  90%+ 자동 검증</a:t>
            </a:r>
            <a:br/>
            <a:br/>
            <a:r>
              <a:t>•  Manager Memory  →  영속 맥락</a:t>
            </a:r>
            <a:br/>
            <a:br/>
            <a:r>
              <a:t>•  핑퐁 게이트  →  사용자 통제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200" b="0">
                <a:solidFill>
                  <a:srgbClr val="6B7080"/>
                </a:solidFill>
                <a:latin typeface="Arial"/>
              </a:defRPr>
            </a:pPr>
            <a:r>
              <a:t>/vais auto {피처명}  으로 시작하세요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6B7080"/>
                </a:solidFill>
                <a:latin typeface="Arial"/>
              </a:defRPr>
            </a:pPr>
            <a:r>
              <a:t>VAIS Code v0.11.0  ·  MIT License  ·  github.com/ghlee3401/vais-claude-code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80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BFDBFE"/>
                </a:solidFill>
                <a:latin typeface="Arial"/>
              </a:defRPr>
            </a:pPr>
            <a:r>
              <a:t>VAIS Code v0.11.0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577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BFDBFE"/>
                </a:solidFill>
                <a:latin typeface="Arial"/>
              </a:defRPr>
            </a:pPr>
            <a:r>
              <a:t>/vais help  로 시작하세요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