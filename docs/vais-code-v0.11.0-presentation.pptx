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7200" b="1">
                <a:solidFill>
                  <a:srgbClr val="38BDF8"/>
                </a:solidFill>
                <a:latin typeface="Arial"/>
              </a:defRPr>
            </a:pPr>
            <a:r>
              <a:t>VAIS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4400" b="1">
                <a:solidFill>
                  <a:srgbClr val="F1F5F9"/>
                </a:solidFill>
                <a:latin typeface="Arial"/>
              </a:defRPr>
            </a:pPr>
            <a:r>
              <a:t>v0.11.0 기술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94A3B8"/>
                </a:solidFill>
                <a:latin typeface="Arial"/>
              </a:defRPr>
            </a:pPr>
            <a:r>
              <a:t>Claude Code 플러그인 기반 9단계 AI 개발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Arial"/>
              </a:defRPr>
            </a:pPr>
            <a:r>
              <a:t>체이닝 문법 · 병렬 에이전트 · 피드백 루프 · Gap 분석 · Manager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Arial"/>
              </a:defRPr>
            </a:pPr>
            <a:r>
              <a:t>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38BDF8"/>
                </a:solidFill>
                <a:latin typeface="Arial"/>
              </a:defRPr>
            </a:pPr>
            <a:r>
              <a:t>📑  목차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4864" cy="2103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Part 1 —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VAIS Code란?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핵심 가치와 차별점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전체 아키텍처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3035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54864" cy="21031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818CF8"/>
                </a:solidFill>
                <a:latin typeface="Arial"/>
              </a:defRPr>
            </a:pPr>
            <a:r>
              <a:t>Part 2 — 워크플로우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9단계 파이프라인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14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체이닝 문법 (: 순차, + 병렬)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게이트 &amp; 핑퐁 피드백 루프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54864" cy="2103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34D399"/>
                </a:solidFill>
                <a:latin typeface="Arial"/>
              </a:defRPr>
            </a:pPr>
            <a:r>
              <a:t>Part 3 — 시스템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에이전트 팀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74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훅(Hook) 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486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상태 관리 &amp; 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23360"/>
            <a:ext cx="53035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069080"/>
            <a:ext cx="54864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2062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FBBF24"/>
                </a:solidFill>
                <a:latin typeface="Arial"/>
              </a:defRPr>
            </a:pPr>
            <a:r>
              <a:t>Part 4 — 실전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파일 구조 &amp; 데모 흐름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074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Gap 분석 &amp; /vais fix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486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 v0.11.0 변경 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2000" b="1">
                <a:solidFill>
                  <a:srgbClr val="38BDF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5600" b="1">
                <a:solidFill>
                  <a:srgbClr val="F1F5F9"/>
                </a:solidFill>
                <a:latin typeface="Arial"/>
              </a:defRPr>
            </a:pPr>
            <a: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94A3B8"/>
                </a:solidFill>
                <a:latin typeface="Arial"/>
              </a:defRPr>
            </a:pPr>
            <a:r>
              <a:t>VAIS Code는 무엇이고, 왜 필요한가?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38BDF8"/>
                </a:solidFill>
                <a:latin typeface="Arial"/>
              </a:defRPr>
            </a:pPr>
            <a:r>
              <a:t>VAIS Code란?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F1F5F9"/>
                </a:solidFill>
                <a:latin typeface="Arial"/>
              </a:defRPr>
            </a:pPr>
            <a:r>
              <a:t>Claude Code 플러그인으로 동작하는 9단계 AI 개발 워크플로우 도구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747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54864" cy="2651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🎯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AI 코딩 도구에게 "만들어줘" 하면</a:t>
            </a:r>
            <a:br/>
            <a:r>
              <a:t>기획 없이 바로 코딩</a:t>
            </a:r>
            <a:br/>
            <a:r>
              <a:t>→ 요구사항 누락, 설계 없는 코드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920240"/>
            <a:ext cx="34747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965960"/>
            <a:ext cx="54864" cy="26517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031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818CF8"/>
                </a:solidFill>
                <a:latin typeface="Arial"/>
              </a:defRPr>
            </a:pPr>
            <a:r>
              <a:t>💡 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65176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조사→기획→설계→구현→검증까지</a:t>
            </a:r>
            <a:br/>
            <a:r>
              <a:t>단계별 산출물을 강제하여</a:t>
            </a:r>
            <a:br/>
            <a:r>
              <a:t>체계적 개발 워크플로우 보장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4747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965960"/>
            <a:ext cx="54864" cy="2651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34D399"/>
                </a:solidFill>
                <a:latin typeface="Arial"/>
              </a:defRPr>
            </a:pPr>
            <a:r>
              <a:t>✨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기획서 기반 코딩 규칙 준수</a:t>
            </a:r>
            <a:br/>
            <a:r>
              <a:t>설계 대비 Gap 분석으로</a:t>
            </a:r>
            <a:br/>
            <a:r>
              <a:t>90%+ 일치율 자동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Arial"/>
              </a:defRPr>
            </a:pPr>
            <a:r>
              <a:t>Claude Code Plugin  ·  MIT License  ·  한국어 네이티브  ·  v0.11.0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38BDF8"/>
                </a:solidFill>
                <a:latin typeface="Arial"/>
              </a:defRPr>
            </a:pPr>
            <a:r>
              <a:t>핵심 가치 &amp; 차별점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54864" cy="2103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📋 기획 없이 코드 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기획서가 없으면 코딩 시작 불가.</a:t>
            </a:r>
            <a:br/>
            <a:r>
              <a:t>기획서에 코딩 규칙, 기능 목록, 정책이</a:t>
            </a:r>
            <a:br/>
            <a:r>
              <a:t>포함되어 SSOT(단일 진실 소스) 역할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4864" cy="21031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818CF8"/>
                </a:solidFill>
                <a:latin typeface="Arial"/>
              </a:defRPr>
            </a:pPr>
            <a:r>
              <a:t>🔗 체이닝 문법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plan:ia:wireframe → 순차 실행</a:t>
            </a:r>
            <a:br/>
            <a:r>
              <a:t>fe+be → 병렬 실행</a:t>
            </a:r>
            <a:br/>
            <a:r>
              <a:t>직관적 DSL로 워크플로우 조합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3035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54864" cy="2103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🔎 Gap 분석 자동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설계 vs 구현 자동 비교</a:t>
            </a:r>
            <a:br/>
            <a:r>
              <a:t>일치율 90% 미만 시 최대 5회 반복</a:t>
            </a:r>
            <a:br/>
            <a:r>
              <a:t>OWASP Top 10 보안 검사 포함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53035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977639"/>
            <a:ext cx="54864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114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BBF24"/>
                </a:solidFill>
                <a:latin typeface="Arial"/>
              </a:defRPr>
            </a:pPr>
            <a:r>
              <a:t>🧠 Manager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66344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모든 의사결정, 피처 간 의존성,</a:t>
            </a:r>
            <a:br/>
            <a:r>
              <a:t>기술 부채를 영속 저장.</a:t>
            </a:r>
            <a:br/>
            <a:r>
              <a:t>다음 세션에서도 맥락 유지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38BDF8"/>
                </a:solidFill>
                <a:latin typeface="Arial"/>
              </a:defRPr>
            </a:pPr>
            <a:r>
              <a:t>전체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1440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417320"/>
            <a:ext cx="54864" cy="4663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8686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1F5F9"/>
                </a:solidFill>
                <a:latin typeface="Courier New"/>
              </a:defRPr>
            </a:pPr>
            <a:r>
              <a:t>사용자</a:t>
            </a:r>
            <a:br/>
            <a:r>
              <a:t>    │  /vais auto login</a:t>
            </a:r>
            <a:br/>
            <a:r>
              <a:t>    ▼</a:t>
            </a:r>
            <a:br/>
            <a:r>
              <a:t>┌──────────────┐</a:t>
            </a:r>
            <a:br/>
            <a:r>
              <a:t>│  SKILL.md     │ ← 스킬 진입점 (액션 라우팅)</a:t>
            </a:r>
            <a:br/>
            <a:r>
              <a:t>└──────┬───────┘</a:t>
            </a:r>
            <a:br/>
            <a:r>
              <a:t>       ▼</a:t>
            </a:r>
            <a:br/>
            <a:r>
              <a:t>┌──────────┐  ┌──────────┐  ┌─────────────┐</a:t>
            </a:r>
            <a:br/>
            <a:r>
              <a:t>│ Manager  │→ │ Tech Lead│→ │ 에이전트 팀  │</a:t>
            </a:r>
            <a:br/>
            <a:r>
              <a:t>│ (opus)   │  │ (opus)   │  │ (sonnet)    │</a:t>
            </a:r>
            <a:br/>
            <a:r>
              <a:t>│ memory   │  │ 오케스트 │  │ designer    │</a:t>
            </a:r>
            <a:br/>
            <a:r>
              <a:t>└──────────┘  └──────────┘  │ fe/be dev   │</a:t>
            </a:r>
            <a:br/>
            <a:r>
              <a:t>      ▲            │       │ reviewer    │</a:t>
            </a:r>
            <a:br/>
            <a:r>
              <a:t>      │        ┌───┴───┐  └─────────────┘</a:t>
            </a:r>
            <a:br/>
            <a:r>
              <a:t>  피드백/기록  │ Hooks │  │ Status │</a:t>
            </a:r>
            <a:br/>
            <a:r>
              <a:t>              │ 5개 훅│  │ .vais/ │</a:t>
            </a:r>
            <a:br/>
            <a:r>
              <a:t>              └───────┘  └────────┘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2000" b="1">
                <a:solidFill>
                  <a:srgbClr val="818CF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5600" b="1">
                <a:solidFill>
                  <a:srgbClr val="F1F5F9"/>
                </a:solidFill>
                <a:latin typeface="Arial"/>
              </a:defRPr>
            </a:pPr>
            <a:r>
              <a:t>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94A3B8"/>
                </a:solidFill>
                <a:latin typeface="Arial"/>
              </a:defRPr>
            </a:pPr>
            <a:r>
              <a:t>9단계 파이프라인, 체이닝, 게이트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9단계 개발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🔭 조사·탐색 → 📋 기획 → 🗺 IA → 🖼 와이어프레임 → 🎨 설계 → 💻 FE → ⚙️ BE → 🔎 Gap → 🔍 검토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2743200"/>
                <a:gridCol w="310896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산출물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에이전트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🔭 research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docs/01-research/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Tech Lead 직접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아이디어 → 기능 도출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📋 plan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docs/02-plan/ + .vais/features/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Tech Lead 직접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⚡ 게이트 | 코딩 규칙 포함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🗺 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docs/03-ia/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designer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사이트맵, 네비게이션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🖼 wireframe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docs/04-wireframe/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designer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ASCII + HTML 와이어프레임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🎨 design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docs/05-design/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designer + backend-dev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🔀 병렬 | UI + DB 설계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💻 fe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src/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frontend-dev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⚡ 게이트 | 🔀 병렬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⚙️ be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src/ or server/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backend-dev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🔀 병렬 (fe와 동시)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🔎 check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docs/06-check/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reviewer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Gap 분석 + 보안 검사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🔍 review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docs/07-review/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reviewer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QA + 최종 리뷰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체이닝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: (순차) + (병렬)을 조합하여 워크플로우 커스터마이징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기호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: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순차 실행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plan:ia:wireframe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병렬 실행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fe+be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혼합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순차+병렬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plan:design:fe+be:check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17920" y="1463040"/>
            <a:ext cx="530352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508760"/>
            <a:ext cx="54864" cy="47548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8463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1F5F9"/>
                </a:solidFill>
                <a:latin typeface="Courier New"/>
              </a:defRPr>
            </a:pPr>
            <a:r>
              <a:t># 단일 실행</a:t>
            </a:r>
            <a:br/>
            <a:r>
              <a:t>/vais plan 로그인기능</a:t>
            </a:r>
            <a:br/>
            <a:br/>
            <a:r>
              <a:t># 순차 체이닝: 기획→IA→와이어프레임</a:t>
            </a:r>
            <a:br/>
            <a:r>
              <a:t>/vais plan:ia:wireframe 로그인기능</a:t>
            </a:r>
            <a:br/>
            <a:br/>
            <a:r>
              <a:t># 병렬: 프론트 + 백엔드 동시</a:t>
            </a:r>
            <a:br/>
            <a:r>
              <a:t>/vais fe+be 로그인기능</a:t>
            </a:r>
            <a:br/>
            <a:br/>
            <a:r>
              <a:t># 혼합: 기획→설계→구현(병렬)→검증</a:t>
            </a:r>
            <a:br/>
            <a:r>
              <a:t>/vais plan:design:fe+be:check 로그인기능</a:t>
            </a:r>
            <a:br/>
            <a:br/>
            <a:r>
              <a:t># 전체 자동</a:t>
            </a:r>
            <a:br/>
            <a:r>
              <a:t>/vais auto 로그인기능</a:t>
            </a:r>
            <a:br/>
            <a:br/>
            <a:r>
              <a:t># 범위 지정 (한글)</a:t>
            </a:r>
            <a:br/>
            <a:r>
              <a:t>"기획부터 백엔드까지"</a:t>
            </a:r>
            <a:br/>
            <a:r>
              <a:t>→ plan:ia:wireframe:design:fe+be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291840"/>
          <a:ext cx="50292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레벨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범위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Quick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plan → check (7단계)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MVP, 프로토타입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research → review (9)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프로덕션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게이트 &amp; 핑퐁 피드백 루프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v0.11.0 핵심 변경 — 사용자가 "계속"을 누를 때까지 멈춤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BBF24"/>
                </a:solidFill>
                <a:latin typeface="Arial"/>
              </a:defRPr>
            </a:pPr>
            <a:r>
              <a:t>게이트 체크포인트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vais.config.json의 orchestration.gates에서 설정</a:t>
            </a:r>
            <a:br/>
            <a:r>
              <a:t>기본값: plan, fe</a:t>
            </a:r>
            <a:br/>
            <a:br/>
            <a:r>
              <a:t>• plan 게이트 — 기획 완료 후 방향 확인</a:t>
            </a:r>
            <a:br/>
            <a:r>
              <a:t>• fe 게이트 — 구현 시작 전 설계 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54864" cy="4754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핑퐁 루프 (v0.11.0 신규)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F1F5F9"/>
                </a:solidFill>
                <a:latin typeface="Courier New"/>
              </a:defRPr>
            </a:pPr>
            <a:r>
              <a:t>게이트 도달</a:t>
            </a:r>
            <a:br/>
            <a:r>
              <a:t>  │</a:t>
            </a:r>
            <a:br/>
            <a:r>
              <a:t>  ▼</a:t>
            </a:r>
            <a:br/>
            <a:r>
              <a:t>AskUserQuestion</a:t>
            </a:r>
            <a:br/>
            <a:r>
              <a:t>  ├─ "계속"      → 다음 단계 ✅</a:t>
            </a:r>
            <a:br/>
            <a:r>
              <a:t>  ├─ "수정 요청" → 피드백 수신</a:t>
            </a:r>
            <a:br/>
            <a:r>
              <a:t>  │     │</a:t>
            </a:r>
            <a:br/>
            <a:r>
              <a:t>  │     ▼</a:t>
            </a:r>
            <a:br/>
            <a:r>
              <a:t>  │   피드백 반영 → 문서/코드 수정</a:t>
            </a:r>
            <a:br/>
            <a:r>
              <a:t>  │     │</a:t>
            </a:r>
            <a:br/>
            <a:r>
              <a:t>  │     ▼</a:t>
            </a:r>
            <a:br/>
            <a:r>
              <a:t>  │   📝 수정 결과 요약 출력</a:t>
            </a:r>
            <a:br/>
            <a:r>
              <a:t>  │     │</a:t>
            </a:r>
            <a:br/>
            <a:r>
              <a:t>  │     ▼</a:t>
            </a:r>
            <a:br/>
            <a:r>
              <a:t>  │   AskUserQuestion (재확인)</a:t>
            </a:r>
            <a:br/>
            <a:r>
              <a:t>  │     ├─ "계속"      → 다음 단계 ✅</a:t>
            </a:r>
            <a:br/>
            <a:r>
              <a:t>  │     ├─ "추가 수정" → ↑ 반복 🔄</a:t>
            </a:r>
            <a:br/>
            <a:r>
              <a:t>  │     └─ "중단"      → 저장 후 종료 🛑</a:t>
            </a:r>
            <a:br/>
            <a:r>
              <a:t>  │</a:t>
            </a:r>
            <a:br/>
            <a:r>
              <a:t>  └─ "중단"      → 저장 후 종료 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0292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86200"/>
            <a:ext cx="54864" cy="1280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⚠️  중요</a:t>
            </a:r>
            <a:br/>
            <a:r>
              <a:t>사용자가 명시적으로 "계속"을 선택할 때까지</a:t>
            </a:r>
            <a:br/>
            <a:r>
              <a:t>절대 다음 단계로 넘어가지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2000" b="1">
                <a:solidFill>
                  <a:srgbClr val="34D39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5600" b="1">
                <a:solidFill>
                  <a:srgbClr val="F1F5F9"/>
                </a:solidFill>
                <a:latin typeface="Arial"/>
              </a:defRPr>
            </a:pPr>
            <a:r>
              <a:t>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94A3B8"/>
                </a:solidFill>
                <a:latin typeface="Arial"/>
              </a:defRPr>
            </a:pPr>
            <a:r>
              <a:t>에이전트, 훅, 상태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에이전트 팀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1031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4864" cy="3108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📋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opus</a:t>
            </a:r>
            <a:br/>
            <a:r>
              <a:t>프로젝트 기억</a:t>
            </a:r>
            <a:br/>
            <a:r>
              <a:t>전략적 판단</a:t>
            </a:r>
            <a:br/>
            <a:r>
              <a:t>크로스-피처 분석</a:t>
            </a:r>
            <a:br/>
            <a:r>
              <a:t>Tech Lead 지시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097280"/>
            <a:ext cx="21031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1143000"/>
            <a:ext cx="54864" cy="3108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🏗 Tech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3736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opus</a:t>
            </a:r>
            <a:br/>
            <a:r>
              <a:t>아키텍처 결정</a:t>
            </a:r>
            <a:br/>
            <a:r>
              <a:t>팀 오케스트레이션</a:t>
            </a:r>
            <a:br/>
            <a:r>
              <a:t>게이트 관리</a:t>
            </a:r>
            <a:br/>
            <a:r>
              <a:t>품질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097280"/>
            <a:ext cx="21031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1143000"/>
            <a:ext cx="54864" cy="31089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818CF8"/>
                </a:solidFill>
                <a:latin typeface="Arial"/>
              </a:defRPr>
            </a:pPr>
            <a:r>
              <a:t>🎨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sonnet</a:t>
            </a:r>
            <a:br/>
            <a:r>
              <a:t>IA 설계</a:t>
            </a:r>
            <a:br/>
            <a:r>
              <a:t>와이어프레임</a:t>
            </a:r>
            <a:br/>
            <a:r>
              <a:t>UI/UX 설계</a:t>
            </a:r>
            <a:br/>
            <a:r>
              <a:t>디자인 토큰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097280"/>
            <a:ext cx="21031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1143000"/>
            <a:ext cx="54864" cy="3108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💻 FE / ⚙️ 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73736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sonnet</a:t>
            </a:r>
            <a:br/>
            <a:r>
              <a:t>프론트엔드 구현</a:t>
            </a:r>
            <a:br/>
            <a:r>
              <a:t>백엔드 API</a:t>
            </a:r>
            <a:br/>
            <a:r>
              <a:t>DB 설계/연동</a:t>
            </a:r>
            <a:br/>
            <a:r>
              <a:t>테스트 코드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097280"/>
            <a:ext cx="21031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0" y="1143000"/>
            <a:ext cx="54864" cy="31089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87171"/>
                </a:solidFill>
                <a:latin typeface="Arial"/>
              </a:defRPr>
            </a:pPr>
            <a:r>
              <a:t>🔍 Reviewer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73736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sonnet</a:t>
            </a:r>
            <a:br/>
            <a:r>
              <a:t>Gap 분석</a:t>
            </a:r>
            <a:br/>
            <a:r>
              <a:t>OWASP 보안</a:t>
            </a:r>
            <a:br/>
            <a:r>
              <a:t>QA 검증</a:t>
            </a:r>
            <a:br/>
            <a:r>
              <a:t>코드 리뷰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31520" y="4572000"/>
          <a:ext cx="10698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29768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패턴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적용 단계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Tech Lead가 직접 수행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research, plan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delegate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전문 에이전트에 위임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ia, wireframe, fe, be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parallel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여러 에이전트 동시 호출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design(UI+DB), fe+be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council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reviewer + 리드 공동 검토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check, review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모델 비용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판단은 Opus, 구현은 Sonnet — 역할별 모델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54864" cy="4023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029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F1F5F9"/>
                </a:solidFill>
                <a:latin typeface="Courier New"/>
              </a:defRPr>
            </a:pPr>
            <a:r>
              <a:t>opus  ━━━━━━━━━━━━━━━━━━━━</a:t>
            </a:r>
            <a:br/>
            <a:r>
              <a:t>  │  판단, 전략, 아키텍처</a:t>
            </a:r>
            <a:br/>
            <a:r>
              <a:t>  ├── Manager    (프로젝트 기억/판단)</a:t>
            </a:r>
            <a:br/>
            <a:r>
              <a:t>  └── Tech Lead  (아키텍처/오케스트레이션)</a:t>
            </a:r>
            <a:br/>
            <a:br/>
            <a:r>
              <a:t>sonnet ━━━━━━━━━━━━━━━━━━━━</a:t>
            </a:r>
            <a:br/>
            <a:r>
              <a:t>  │  코드 구현, 문서 작성</a:t>
            </a:r>
            <a:br/>
            <a:r>
              <a:t>  ├── Designer      (IA/와이어프레임/설계)</a:t>
            </a:r>
            <a:br/>
            <a:r>
              <a:t>  ├── Frontend Dev  (FE 구현)</a:t>
            </a:r>
            <a:br/>
            <a:r>
              <a:t>  ├── Backend Dev   (BE 구현 + DB)</a:t>
            </a:r>
            <a:br/>
            <a:r>
              <a:t>  └── Reviewer      (Gap/QA/리뷰)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63040"/>
            <a:ext cx="48463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508760"/>
            <a:ext cx="54864" cy="1737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645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핵심 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194560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→ 기획/아키텍처: 정확성 우선 → opus</a:t>
            </a:r>
            <a:br/>
            <a:r>
              <a:t>→ 코드 구현: 속도/비용 효율 → sonnet</a:t>
            </a:r>
            <a:br/>
            <a:r>
              <a:t>→ 단순 탐색: haiku 활용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657600"/>
            <a:ext cx="48463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703320"/>
            <a:ext cx="54864" cy="1737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84048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BBF24"/>
                </a:solidFill>
                <a:latin typeface="Arial"/>
              </a:defRPr>
            </a:pPr>
            <a:r>
              <a:t>비용 절감 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389120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9단계 중 2단계만 opus 사용.</a:t>
            </a:r>
            <a:br/>
            <a:r>
              <a:t>나머지 7단계는 sonnet으로 처리하여</a:t>
            </a:r>
            <a:br/>
            <a:r>
              <a:t>전체 비용 60~70% 절감 (추정)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훅(Hook)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Claude Code 이벤트에 자동 반응하는 5개 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2004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이벤트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스크립트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SessionStart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세션 시작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session-start.js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.vais/ 생성, 피처 상태 표시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PreToolUse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Bash 실행 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bash-guard.js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rm -rf, DROP, sudo 등 차단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PostToolUse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Write|Edit 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doc-tracker.js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문서 감지 → 상태 자동 업데이트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UserPromptSubmit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사용자 입력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prompt-handler.js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의도 감지 → /vais 명령 제안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Stop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응답 완료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stop-handler.js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진행률 바 + 다음 단계 안내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06240"/>
            <a:ext cx="106984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251959"/>
            <a:ext cx="54864" cy="1005839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v0.11.0 변경: no-op 훅 2개 (notification.js, subagent-stop.js) 제거 → 불필요한 오버헤드 제거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상태 관리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.vais/ 디렉토리에 모든 상태를 JSON으로 영속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54864" cy="4663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1F5F9"/>
                </a:solidFill>
                <a:latin typeface="Courier New"/>
              </a:defRPr>
            </a:pPr>
            <a:r>
              <a:t>.vais/</a:t>
            </a:r>
            <a:br/>
            <a:r>
              <a:t>├── status.json        # 워크플로우 상태</a:t>
            </a:r>
            <a:br/>
            <a:r>
              <a:t>│   ├── activeFeature</a:t>
            </a:r>
            <a:br/>
            <a:r>
              <a:t>│   └── features</a:t>
            </a:r>
            <a:br/>
            <a:r>
              <a:t>│       └── login</a:t>
            </a:r>
            <a:br/>
            <a:r>
              <a:t>│           ├── currentPhase</a:t>
            </a:r>
            <a:br/>
            <a:r>
              <a:t>│           ├── phases (9개)</a:t>
            </a:r>
            <a:br/>
            <a:r>
              <a:t>│           └── gapAnalysis</a:t>
            </a:r>
            <a:br/>
            <a:r>
              <a:t>│</a:t>
            </a:r>
            <a:br/>
            <a:r>
              <a:t>├── memory.json        # Manager Memory</a:t>
            </a:r>
            <a:br/>
            <a:r>
              <a:t>│   └── entries[]</a:t>
            </a:r>
            <a:br/>
            <a:r>
              <a:t>│       ├── decision / change</a:t>
            </a:r>
            <a:br/>
            <a:r>
              <a:t>│       ├── feedback / dependency</a:t>
            </a:r>
            <a:br/>
            <a:r>
              <a:t>│       ├── debt / error</a:t>
            </a:r>
            <a:br/>
            <a:r>
              <a:t>│       └── milestone</a:t>
            </a:r>
            <a:br/>
            <a:r>
              <a:t>│</a:t>
            </a:r>
            <a:br/>
            <a:r>
              <a:t>├── features/          # 피처 레지스트리</a:t>
            </a:r>
            <a:br/>
            <a:r>
              <a:t>│   └── login.json</a:t>
            </a:r>
            <a:br/>
            <a:r>
              <a:t>│</a:t>
            </a:r>
            <a:br/>
            <a:r>
              <a:t>└── project-config.json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463040"/>
          <a:ext cx="48463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47472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모듈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paths.js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경로 레지스트리, loadConfig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status.js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워크플로우 상태, updatePhase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memory.js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Manager Memory, addEntry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io.js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훅 I/O, outputAllow/Block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debug.js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디버그 로깅 (VAIS_DEBUG=1)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Manager Memory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프로젝트의 모든 의사결정과 컨텍스트를 영속 기억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943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기술/비즈니스 결정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React 대신 Next.js — SSR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fix로 인한 변경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JWT → 세션 변경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게이트 사용자 피드백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소셜 로그인도 추가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dependency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피처 간 의존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cart → login 의존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debt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기술 부채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에러 핸들링 미완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실패/재시도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빌드 실패 — 타입 에러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단계 완료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plan 단계 완료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1463040"/>
            <a:ext cx="43891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0" y="1508760"/>
            <a:ext cx="54864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6002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🔍 Query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"프로젝트 현황 알려줘"</a:t>
            </a:r>
            <a:br/>
            <a:r>
              <a:t>→ memory 조회 → 피처 목록,</a:t>
            </a:r>
            <a:br/>
            <a:r>
              <a:t>진행률, 최근 활동 요약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108960"/>
            <a:ext cx="43891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3154680"/>
            <a:ext cx="54864" cy="12801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32461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818CF8"/>
                </a:solidFill>
                <a:latin typeface="Arial"/>
              </a:defRPr>
            </a:pPr>
            <a:r>
              <a:t>⚡ 크로스-피처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61188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"login 수정해줘"</a:t>
            </a:r>
            <a:br/>
            <a:r>
              <a:t>→ dependency 맵 조회</a:t>
            </a:r>
            <a:br/>
            <a:r>
              <a:t>→ cart, payment 영향 알림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754880"/>
            <a:ext cx="43891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4800600"/>
            <a:ext cx="54864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4892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📋 기술 부채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25780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F1F5F9"/>
                </a:solidFill>
                <a:latin typeface="Arial"/>
              </a:defRPr>
            </a:pPr>
            <a:r>
              <a:t>미해결 부채 목록 조회</a:t>
            </a:r>
            <a:br/>
            <a:r>
              <a:t>해결 시 resolveDebt()로</a:t>
            </a:r>
            <a:br/>
            <a:r>
              <a:t>표시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2000" b="1">
                <a:solidFill>
                  <a:srgbClr val="FBBF2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5600" b="1">
                <a:solidFill>
                  <a:srgbClr val="F1F5F9"/>
                </a:solidFill>
                <a:latin typeface="Arial"/>
              </a:defRPr>
            </a:pPr>
            <a:r>
              <a:t>실전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94A3B8"/>
                </a:solidFill>
                <a:latin typeface="Arial"/>
              </a:defRPr>
            </a:pPr>
            <a:r>
              <a:t>파일 구조, 데모 흐름, 변경 사항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실행 데모 — /vais auto login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54864" cy="5212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2412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400" b="0">
                <a:solidFill>
                  <a:srgbClr val="F1F5F9"/>
                </a:solidFill>
                <a:latin typeface="Courier New"/>
              </a:defRPr>
            </a:pPr>
            <a:r>
              <a:t>1. Manager — memory.json 조회 → 기존 피처 의존성 확인</a:t>
            </a:r>
            <a:br/>
            <a:br/>
            <a:r>
              <a:t>2. Tech Lead — research → docs/01-research/login.md</a:t>
            </a:r>
            <a:br/>
            <a:br/>
            <a:r>
              <a:t>3. Tech Lead — plan  ⚡게이트</a:t>
            </a:r>
            <a:br/>
            <a:r>
              <a:t>   기획서 → 피처 레지스트리 → 핑퐁 루프</a:t>
            </a:r>
            <a:br/>
            <a:r>
              <a:t>   └─ 사용자: "소셜 로그인도 넣어줘" → 반영 → "계속"</a:t>
            </a:r>
            <a:br/>
            <a:br/>
            <a:r>
              <a:t>4. designer — ia → 사이트맵 + 네비게이션</a:t>
            </a:r>
            <a:br/>
            <a:br/>
            <a:r>
              <a:t>5. designer — wireframe → ASCII/HTML 와이어프레임</a:t>
            </a:r>
            <a:br/>
            <a:br/>
            <a:r>
              <a:t>6. 🔀 병렬 — design</a:t>
            </a:r>
            <a:br/>
            <a:r>
              <a:t>   ├─ designer → UI 설계 (디자인 토큰, 컴포넌트)</a:t>
            </a:r>
            <a:br/>
            <a:r>
              <a:t>   └─ backend-dev → DB 설계 (ERD, 스키마)</a:t>
            </a:r>
            <a:br/>
            <a:br/>
            <a:r>
              <a:t>7. 🔀 병렬 — fe+be  ⚡게이트 (fe 시작 전)</a:t>
            </a:r>
            <a:br/>
            <a:r>
              <a:t>   ├─ frontend-dev → React 컴포넌트 구현</a:t>
            </a:r>
            <a:br/>
            <a:r>
              <a:t>   └─ backend-dev → API + DB 연동</a:t>
            </a:r>
            <a:br/>
            <a:br/>
            <a:r>
              <a:t>8. reviewer — check → Gap 분석 (90% 미만 시 자동 반복)</a:t>
            </a:r>
            <a:br/>
            <a:br/>
            <a:r>
              <a:t>9. reviewer — review → QA + OWASP 보안 + 최종 리뷰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Gap 분석 — 자동 검증 루프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설계 문서 vs 구현 코드를 자동 비교, 90% 미만이면 자동 재시도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54864" cy="3108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1F5F9"/>
                </a:solidFill>
                <a:latin typeface="Arial"/>
              </a:defRPr>
            </a:pPr>
            <a:r>
              <a:t>1. 피처 레지스트리에서 요구사항 추출</a:t>
            </a:r>
            <a:br/>
            <a:r>
              <a:t>2. Glob/Grep으로 구현 코드 탐색</a:t>
            </a:r>
            <a:br/>
            <a:r>
              <a:t>3. 각 요구사항의 구현 여부 판정</a:t>
            </a:r>
            <a:br/>
            <a:r>
              <a:t>4. 일치율 산출: (구현 수/전체) × 100</a:t>
            </a:r>
            <a:br/>
            <a:r>
              <a:t>5. OWASP Top 10 보안 검사</a:t>
            </a:r>
            <a:br/>
            <a:r>
              <a:t>6. QA 시나리오 생성</a:t>
            </a:r>
            <a:br/>
            <a:r>
              <a:t>7. Gap 방향 판단: 코드 수정? 스펙 수정?</a:t>
            </a:r>
            <a:br/>
            <a:r>
              <a:t>8. 90% 미만 → 최대 5회 자동 반복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54864" cy="4754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8463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1F5F9"/>
                </a:solidFill>
                <a:latin typeface="Courier New"/>
              </a:defRPr>
            </a:pPr>
            <a:r>
              <a:t>check 시작</a:t>
            </a:r>
            <a:br/>
            <a:r>
              <a:t>  │</a:t>
            </a:r>
            <a:br/>
            <a:r>
              <a:t>  ▼</a:t>
            </a:r>
            <a:br/>
            <a:r>
              <a:t>빌드 검증 (npm build / tsc)</a:t>
            </a:r>
            <a:br/>
            <a:r>
              <a:t>  │</a:t>
            </a:r>
            <a:br/>
            <a:r>
              <a:t>  ▼</a:t>
            </a:r>
            <a:br/>
            <a:r>
              <a:t>Gap 분석 실행</a:t>
            </a:r>
            <a:br/>
            <a:r>
              <a:t>  │</a:t>
            </a:r>
            <a:br/>
            <a:r>
              <a:t>  ├─ ≥ 90% → 통과 ✅</a:t>
            </a:r>
            <a:br/>
            <a:r>
              <a:t>  │</a:t>
            </a:r>
            <a:br/>
            <a:r>
              <a:t>  └─ &lt; 90%</a:t>
            </a:r>
            <a:br/>
            <a:r>
              <a:t>       │</a:t>
            </a:r>
            <a:br/>
            <a:r>
              <a:t>       ▼</a:t>
            </a:r>
            <a:br/>
            <a:r>
              <a:t>     Gap 방향 판단</a:t>
            </a:r>
            <a:br/>
            <a:r>
              <a:t>     ├─ 코드 누락 → 코드 수정</a:t>
            </a:r>
            <a:br/>
            <a:r>
              <a:t>     └─ 스펙 과잉 → 사용자 확인</a:t>
            </a:r>
            <a:br/>
            <a:r>
              <a:t>       │</a:t>
            </a:r>
            <a:br/>
            <a:r>
              <a:t>     반복 (iteration++)</a:t>
            </a:r>
            <a:br/>
            <a:r>
              <a:t>     ├─ ≤ 5 → 재분석 🔄</a:t>
            </a:r>
            <a:br/>
            <a:r>
              <a:t>     └─ &gt; 5 → 중단 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50292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983480"/>
            <a:ext cx="54864" cy="11887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설정 (vais.config.json)</a:t>
            </a:r>
            <a:br/>
            <a:r>
              <a:t>matchThreshold: 90  |  maxIterations: 5  |  autoIterate: true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/vais fix — 영향 분석 기반 수정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Manager가 영향 범위를 분석 후 적절한 단계 체이닝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54864" cy="4663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400" b="0">
                <a:solidFill>
                  <a:srgbClr val="F1F5F9"/>
                </a:solidFill>
                <a:latin typeface="Courier New"/>
              </a:defRPr>
            </a:pPr>
            <a:r>
              <a:t>사용자: "로그인 화면 디자인 바꿔줘"</a:t>
            </a:r>
            <a:br/>
            <a:r>
              <a:t>  │</a:t>
            </a:r>
            <a:br/>
            <a:r>
              <a:t>  ▼</a:t>
            </a:r>
            <a:br/>
            <a:r>
              <a:t>Manager</a:t>
            </a:r>
            <a:br/>
            <a:r>
              <a:t>  ├── memory 조회 (과거 결정)</a:t>
            </a:r>
            <a:br/>
            <a:r>
              <a:t>  ├── dependency 맵 확인</a:t>
            </a:r>
            <a:br/>
            <a:r>
              <a:t>  └── 영향 범위 분석</a:t>
            </a:r>
            <a:br/>
            <a:r>
              <a:t>  │</a:t>
            </a:r>
            <a:br/>
            <a:r>
              <a:t>  ▼</a:t>
            </a:r>
            <a:br/>
            <a:r>
              <a:t>영향 분류</a:t>
            </a:r>
            <a:br/>
            <a:r>
              <a:t>  ├── UI만   → wireframe:design:fe</a:t>
            </a:r>
            <a:br/>
            <a:r>
              <a:t>  ├── API만  → design:be</a:t>
            </a:r>
            <a:br/>
            <a:r>
              <a:t>  ├── 전체   → design:fe+be:check</a:t>
            </a:r>
            <a:br/>
            <a:r>
              <a:t>  └── 정책   → plan:design:fe+be:check</a:t>
            </a:r>
            <a:br/>
            <a:r>
              <a:t>  │</a:t>
            </a:r>
            <a:br/>
            <a:r>
              <a:t>  ▼</a:t>
            </a:r>
            <a:br/>
            <a:r>
              <a:t>Tech Lead → 팀 실행</a:t>
            </a:r>
            <a:br/>
            <a:r>
              <a:t>  │</a:t>
            </a:r>
            <a:br/>
            <a:r>
              <a:t>  ▼</a:t>
            </a:r>
            <a:br/>
            <a:r>
              <a:t>Manager → memory 기록 (change)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63040"/>
            <a:ext cx="4846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508760"/>
            <a:ext cx="54864" cy="2651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6459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⚠️  크로스-피처 영향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103120"/>
            <a:ext cx="43891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1F5F9"/>
                </a:solidFill>
                <a:latin typeface="Arial"/>
              </a:defRPr>
            </a:pPr>
            <a:r>
              <a:t>"login" 수정 시 다음 피처에 영향:</a:t>
            </a:r>
            <a:br/>
            <a:br/>
            <a:r>
              <a:t>• cart</a:t>
            </a:r>
            <a:br/>
            <a:r>
              <a:t>  login 인증 토큰 의존</a:t>
            </a:r>
            <a:br/>
            <a:r>
              <a:t>  → 인증 로직 변경 시 cart도 수정</a:t>
            </a:r>
            <a:br/>
            <a:br/>
            <a:r>
              <a:t>• payment</a:t>
            </a:r>
            <a:br/>
            <a:r>
              <a:t>  cart 경유로 login에 간접 의존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572000"/>
            <a:ext cx="48463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4617720"/>
            <a:ext cx="54864" cy="1554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6634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안전 장치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502920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F1F5F9"/>
                </a:solidFill>
                <a:latin typeface="Arial"/>
              </a:defRPr>
            </a:pPr>
            <a:r>
              <a:t>→ fix → check → fix 재귀 방지</a:t>
            </a:r>
            <a:br/>
            <a:r>
              <a:t>→ 영향 피처 사용자 확인</a:t>
            </a:r>
            <a:br/>
            <a:r>
              <a:t>→ 모든 변경 memory에 기록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38BDF8"/>
                </a:solidFill>
                <a:latin typeface="Arial"/>
              </a:defRPr>
            </a:pPr>
            <a:r>
              <a:t>v0.11.0 변경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코드 리뷰 반영 + 게이트 핑퐁 루프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029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변경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bash-guard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sudo, 분리플래그, $HOME, chmod 777 차단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doc-tracker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includes() → endsWith() 오탐 수정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prompt-handler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복합 키워드로 false positive 감소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status.js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updatePhase 재귀 → 재로드 방식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에러 로깅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모든 catch에 debugLog 추가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46304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변경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게이트 루프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핑퐁 피드백 루프 추가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no-op 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notification/subagent-stop 제거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타이포그래피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design 템플릿 기본값 + H3/Small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OWASP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review 템플릿 A06/A08/A09/A10 추가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버전 통일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plugin/marketplace/config → 0.11.0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818CF8"/>
                          </a:solidFill>
                          <a:latin typeface="Arial"/>
                        </a:defRPr>
                      </a:pPr>
                      <a:r>
                        <a:t>변경 이력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AGENTS.md 시맨틱 버전 순 정렬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7899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074920"/>
            <a:ext cx="54864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206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1F5F9"/>
                </a:solidFill>
                <a:latin typeface="Arial"/>
              </a:defRPr>
            </a:pPr>
            <a:r>
              <a:t>✅  테스트: 25 suites, 67 tests — 전체 통과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38BDF8"/>
                </a:solidFill>
                <a:latin typeface="Arial"/>
              </a:defRPr>
            </a:pPr>
            <a:r>
              <a:t>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4864" cy="4023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🎯 VAIS Code가 해결하는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46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AI가 기획 없이 코드부터 작성</a:t>
            </a:r>
            <a:br/>
            <a:r>
              <a:t>→ 설계와 구현의 괴리 (Gap)</a:t>
            </a:r>
            <a:br/>
            <a:r>
              <a:t>→ 세션 간 맥락 유실</a:t>
            </a:r>
            <a:br/>
            <a:r>
              <a:t>→ 피처 간 의존성 파악 불가</a:t>
            </a:r>
            <a:br/>
            <a:r>
              <a:t>→ 수정 시 영향 범위 모름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234440"/>
            <a:ext cx="54864" cy="4023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✨ 핵심 역량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846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1F5F9"/>
                </a:solidFill>
                <a:latin typeface="Arial"/>
              </a:defRPr>
            </a:pPr>
            <a:r>
              <a:t>→ 9단계 파이프라인 — 체계적 산출물</a:t>
            </a:r>
            <a:br/>
            <a:r>
              <a:t>→ 체이닝 문법 — 유연한 워크플로우</a:t>
            </a:r>
            <a:br/>
            <a:r>
              <a:t>→ 병렬 에이전트 — design, fe+be</a:t>
            </a:r>
            <a:br/>
            <a:r>
              <a:t>→ Gap 분석 — 90%+ 자동 검증</a:t>
            </a:r>
            <a:br/>
            <a:r>
              <a:t>→ Manager Memory — 영속 맥락</a:t>
            </a:r>
            <a:br/>
            <a:r>
              <a:t>→ 핑퐁 게이트 — 사용자 통제 보장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94A3B8"/>
                </a:solidFill>
                <a:latin typeface="Arial"/>
              </a:defRPr>
            </a:pPr>
            <a:r>
              <a:t>/vais auto {피처명}  으로 시작하세요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Arial"/>
              </a:defRPr>
            </a:pPr>
            <a:r>
              <a:t>VAIS Code v0.11.0 · MIT License · github.com/ghlee3401/vais-claude-code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0" b="1">
                <a:solidFill>
                  <a:srgbClr val="38BDF8"/>
                </a:solidFill>
                <a:latin typeface="Arial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4400" b="1">
                <a:solidFill>
                  <a:srgbClr val="F1F5F9"/>
                </a:solidFill>
                <a:latin typeface="Arial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VAIS Code v0.11.0  ·  /vais help 로 시작하세요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